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D2DC"/>
                </a:solidFill>
                <a:latin typeface="Aptos"/>
              </a:rPr>
              <a:t>AI PROJECT PASSPORT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Product-Led Growth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6B1C6"/>
                </a:solidFill>
                <a:latin typeface="Aptos"/>
              </a:rPr>
              <a:t>Transforming workshop acquisition from generic ad marketing
to personalized, outcome-led viral loops.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658368"/>
            <a:ext cx="3154680" cy="1325880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8961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CD2DC"/>
                </a:solidFill>
                <a:latin typeface="Aptos"/>
              </a:rPr>
              <a:t>7-DAY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2471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114300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1C6"/>
                </a:solidFill>
                <a:latin typeface="Aptos"/>
              </a:rPr>
              <a:t>final-year engineering
registrations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835640" cy="105156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2646E"/>
                </a:solidFill>
                <a:latin typeface="Aptos"/>
              </a:rPr>
              <a:t>THE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09067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Distribution, not conversion.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127248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C6"/>
                </a:solidFill>
                <a:latin typeface="Aptos"/>
              </a:rPr>
              <a:t>₹2,000 cannot buy enough reach; generic webinar promotion creates fatigue.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3434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2DC91"/>
                </a:solidFill>
                <a:latin typeface="Aptos"/>
              </a:rPr>
              <a:t>WINNING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645152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“Don’t sell the webinar. Sell a personalized outcome students want to build and flex with a classmate.”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623560"/>
            <a:ext cx="384048" cy="384048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55961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AI Passport
5 Qs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5806440"/>
            <a:ext cx="237743" cy="0"/>
          </a:xfrm>
          <a:prstGeom prst="line">
            <a:avLst/>
          </a:prstGeom>
          <a:ln w="19050">
            <a:solidFill>
              <a:srgbClr val="A6B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880360" y="5623560"/>
            <a:ext cx="384048" cy="384048"/>
          </a:xfrm>
          <a:prstGeom prst="ellipse">
            <a:avLst/>
          </a:prstGeom>
          <a:solidFill>
            <a:srgbClr val="8968FF"/>
          </a:solidFill>
          <a:ln>
            <a:solidFill>
              <a:srgbClr val="89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55961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Match Score
0–100%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82312" y="5806440"/>
            <a:ext cx="237744" cy="0"/>
          </a:xfrm>
          <a:prstGeom prst="line">
            <a:avLst/>
          </a:prstGeom>
          <a:ln w="19050">
            <a:solidFill>
              <a:srgbClr val="A6B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102352" y="5623560"/>
            <a:ext cx="384048" cy="384048"/>
          </a:xfrm>
          <a:prstGeom prst="ellipse">
            <a:avLst/>
          </a:prstGeom>
          <a:solidFill>
            <a:srgbClr val="52DC91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55961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Build With Me
Hook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04304" y="5806440"/>
            <a:ext cx="237744" cy="0"/>
          </a:xfrm>
          <a:prstGeom prst="line">
            <a:avLst/>
          </a:prstGeom>
          <a:ln w="19050">
            <a:solidFill>
              <a:srgbClr val="A6B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24344" y="5623560"/>
            <a:ext cx="384048" cy="384048"/>
          </a:xfrm>
          <a:prstGeom prst="ellipse">
            <a:avLst/>
          </a:prstGeom>
          <a:solidFill>
            <a:srgbClr val="F7C44F"/>
          </a:solidFill>
          <a:ln>
            <a:solidFill>
              <a:srgbClr val="F7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55961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Squad Seat
Referral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26296" y="5806440"/>
            <a:ext cx="237744" cy="0"/>
          </a:xfrm>
          <a:prstGeom prst="line">
            <a:avLst/>
          </a:prstGeom>
          <a:ln w="19050">
            <a:solidFill>
              <a:srgbClr val="A6B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546336" y="5623560"/>
            <a:ext cx="384048" cy="384048"/>
          </a:xfrm>
          <a:prstGeom prst="ellipse">
            <a:avLst/>
          </a:prstGeom>
          <a:solidFill>
            <a:srgbClr val="4C8BF5"/>
          </a:solidFill>
          <a:ln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1824" y="55961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Growth Control
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AI PROJECT PASSPORT  •  PRODUCT-LED GROWTH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6B1C6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D2DC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Personalization &amp; Match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C6"/>
                </a:solidFill>
                <a:latin typeface="Aptos"/>
              </a:rPr>
              <a:t>Discovery → project fit → peer-powered co-build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B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3246120" cy="480060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CD2DC"/>
                </a:solidFill>
                <a:latin typeface="Aptos"/>
              </a:rPr>
              <a:t>5-QUESTION AI PROJECT PASSPORT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240280"/>
            <a:ext cx="292608" cy="292608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20370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Branch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2898648"/>
            <a:ext cx="292608" cy="292608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862072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Coding Experience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3557016"/>
            <a:ext cx="292608" cy="292608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520440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Technical Interests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215384"/>
            <a:ext cx="292608" cy="292608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178808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Career Goals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873752"/>
            <a:ext cx="292608" cy="292608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80C18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83717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Build Style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48640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6B1C6"/>
                </a:solidFill>
                <a:latin typeface="Aptos"/>
              </a:rPr>
              <a:t>CSE / IT / ECE / Mech
GenAI / NLP / Web / IoT / Security
Placement / Startup • Solo / Squad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1371600"/>
            <a:ext cx="3703320" cy="480060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62763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968FF"/>
                </a:solidFill>
                <a:latin typeface="Aptos"/>
              </a:rPr>
              <a:t>MULTI-DIMENSIONAL MATCH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14884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5F7FA"/>
                </a:solidFill>
                <a:latin typeface="Aptos"/>
              </a:rPr>
              <a:t>97%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CD2DC"/>
                </a:solidFill>
                <a:latin typeface="Aptos"/>
              </a:rPr>
              <a:t>AI Resume Analyzer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3375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Branch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0368" y="3374136"/>
            <a:ext cx="1828800" cy="128016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30368" y="3374136"/>
            <a:ext cx="1828800" cy="128016"/>
          </a:xfrm>
          <a:prstGeom prst="roundRect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0608" y="332841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7307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Interest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0368" y="3767328"/>
            <a:ext cx="1828800" cy="128016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30368" y="3767328"/>
            <a:ext cx="1828800" cy="128016"/>
          </a:xfrm>
          <a:prstGeom prst="roundRect">
            <a:avLst/>
          </a:prstGeom>
          <a:solidFill>
            <a:srgbClr val="8968FF"/>
          </a:solidFill>
          <a:ln>
            <a:solidFill>
              <a:srgbClr val="89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372160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12394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Goal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30368" y="4160520"/>
            <a:ext cx="1828800" cy="128016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30368" y="4160520"/>
            <a:ext cx="1097280" cy="128016"/>
          </a:xfrm>
          <a:prstGeom prst="roundRect">
            <a:avLst/>
          </a:prstGeom>
          <a:solidFill>
            <a:srgbClr val="52DC91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8" y="41148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5171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Skill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30368" y="4553712"/>
            <a:ext cx="1828800" cy="128016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230368" y="4553712"/>
            <a:ext cx="1097280" cy="128016"/>
          </a:xfrm>
          <a:prstGeom prst="roundRect">
            <a:avLst/>
          </a:prstGeom>
          <a:solidFill>
            <a:srgbClr val="F7C44F"/>
          </a:solidFill>
          <a:ln>
            <a:solidFill>
              <a:srgbClr val="F7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8" y="45079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4910327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Preference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30368" y="4946903"/>
            <a:ext cx="1828800" cy="128016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30368" y="4946903"/>
            <a:ext cx="731520" cy="128016"/>
          </a:xfrm>
          <a:prstGeom prst="roundRect">
            <a:avLst/>
          </a:prstGeom>
          <a:solidFill>
            <a:srgbClr val="4C8BF5"/>
          </a:solidFill>
          <a:ln>
            <a:solidFill>
              <a:srgbClr val="4C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4901183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303519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Difficulty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30368" y="5340095"/>
            <a:ext cx="1828800" cy="128016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30368" y="5340095"/>
            <a:ext cx="731520" cy="128016"/>
          </a:xfrm>
          <a:prstGeom prst="roundRect">
            <a:avLst/>
          </a:prstGeom>
          <a:solidFill>
            <a:srgbClr val="F2646E"/>
          </a:solidFill>
          <a:ln>
            <a:solidFill>
              <a:srgbClr val="F2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50608" y="5294375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6235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6B1C6"/>
                </a:solidFill>
                <a:latin typeface="Aptos"/>
              </a:rPr>
              <a:t>Explainable: “WHY THIS MATCHES YOU”
Different projects produce different scores.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91856" y="1371600"/>
            <a:ext cx="3639312" cy="480060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16276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DC91"/>
                </a:solidFill>
                <a:latin typeface="Aptos"/>
              </a:rPr>
              <a:t>VIRAL “BUILD WITH ME” HOOK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228600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“This project is even better
when built with a classmate.”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3429000"/>
            <a:ext cx="2926080" cy="1051560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365760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7C44F"/>
                </a:solidFill>
                <a:latin typeface="Aptos"/>
              </a:rPr>
              <a:t>SQUAD SEAT REFERRAL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977639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Peer registers via ?ref=…
→ both unlock Team Extension Pack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489204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2646E"/>
                </a:solidFill>
                <a:latin typeface="Aptos"/>
              </a:rPr>
              <a:t>Safeguard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516636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1C6"/>
                </a:solidFill>
                <a:latin typeface="Aptos"/>
              </a:rPr>
              <a:t>Detect repetitive daily sharing and prompt genuine teammate invites.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AI PROJECT PASSPORT  •  PRODUCT-LED GROWTH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6B1C6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D2DC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Technical Architecture &amp; Event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C6"/>
                </a:solidFill>
                <a:latin typeface="Aptos"/>
              </a:rPr>
              <a:t>Standalone client-side application with a measurable growth funnel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B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2926080" cy="196596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D2DC"/>
                </a:solidFill>
                <a:latin typeface="Aptos"/>
              </a:rPr>
              <a:t>EXECUTION MODEL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30551"/>
            <a:ext cx="82296" cy="82296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84831"/>
            <a:ext cx="21214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HTML5 + modular CSS3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32888"/>
            <a:ext cx="82296" cy="82296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87168"/>
            <a:ext cx="21214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Vanilla JavaScript ES6+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935224"/>
            <a:ext cx="82296" cy="82296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889504"/>
            <a:ext cx="21214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100% standalone client-side SPA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8211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C6"/>
                </a:solidFill>
                <a:latin typeface="Aptos"/>
              </a:rPr>
              <a:t>No external API keys or node servers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84448"/>
            <a:ext cx="11064240" cy="141732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22191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968FF"/>
                </a:solidFill>
                <a:latin typeface="Aptos"/>
              </a:rPr>
              <a:t>REAL-TIME EVENT TELEMETRY — trackEvent()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315968"/>
            <a:ext cx="1143000" cy="384048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379976"/>
            <a:ext cx="1069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5F7FA"/>
                </a:solidFill>
                <a:latin typeface="Aptos"/>
              </a:rPr>
              <a:t>landing_view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47672" y="4507992"/>
            <a:ext cx="109728" cy="0"/>
          </a:xfrm>
          <a:prstGeom prst="line">
            <a:avLst/>
          </a:prstGeom>
          <a:ln w="12700">
            <a:solidFill>
              <a:srgbClr val="3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03120" y="4315968"/>
            <a:ext cx="1143000" cy="384048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9696" y="4379976"/>
            <a:ext cx="1069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5F7FA"/>
                </a:solidFill>
                <a:latin typeface="Aptos"/>
              </a:rPr>
              <a:t>passport_started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4507992"/>
            <a:ext cx="109728" cy="0"/>
          </a:xfrm>
          <a:prstGeom prst="line">
            <a:avLst/>
          </a:prstGeom>
          <a:ln w="12700">
            <a:solidFill>
              <a:srgbClr val="3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01568" y="4315968"/>
            <a:ext cx="1143000" cy="384048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4379976"/>
            <a:ext cx="1069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5F7FA"/>
                </a:solidFill>
                <a:latin typeface="Aptos"/>
              </a:rPr>
              <a:t>passport_completed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44568" y="4507992"/>
            <a:ext cx="109728" cy="0"/>
          </a:xfrm>
          <a:prstGeom prst="line">
            <a:avLst/>
          </a:prstGeom>
          <a:ln w="12700">
            <a:solidFill>
              <a:srgbClr val="3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0016" y="4315968"/>
            <a:ext cx="1143000" cy="384048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4379976"/>
            <a:ext cx="1069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5F7FA"/>
                </a:solidFill>
                <a:latin typeface="Aptos"/>
              </a:rPr>
              <a:t>project_generated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3016" y="4507992"/>
            <a:ext cx="109728" cy="0"/>
          </a:xfrm>
          <a:prstGeom prst="line">
            <a:avLst/>
          </a:prstGeom>
          <a:ln w="12700">
            <a:solidFill>
              <a:srgbClr val="3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98464" y="4315968"/>
            <a:ext cx="1261872" cy="384048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37997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5F7FA"/>
                </a:solidFill>
                <a:latin typeface="Aptos"/>
              </a:rPr>
              <a:t>registration_completed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60336" y="4507992"/>
            <a:ext cx="109727" cy="0"/>
          </a:xfrm>
          <a:prstGeom prst="line">
            <a:avLst/>
          </a:prstGeom>
          <a:ln w="12700">
            <a:solidFill>
              <a:srgbClr val="3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15783" y="4315968"/>
            <a:ext cx="1261872" cy="384048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59" y="437997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5F7FA"/>
                </a:solidFill>
                <a:latin typeface="Aptos"/>
              </a:rPr>
              <a:t>share_action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77655" y="4507992"/>
            <a:ext cx="109728" cy="0"/>
          </a:xfrm>
          <a:prstGeom prst="line">
            <a:avLst/>
          </a:prstGeom>
          <a:ln w="12700">
            <a:solidFill>
              <a:srgbClr val="3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833104" y="4315968"/>
            <a:ext cx="1261872" cy="384048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437997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5F7FA"/>
                </a:solidFill>
                <a:latin typeface="Aptos"/>
              </a:rPr>
              <a:t>referral_visit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094976" y="4507992"/>
            <a:ext cx="109727" cy="0"/>
          </a:xfrm>
          <a:prstGeom prst="line">
            <a:avLst/>
          </a:prstGeom>
          <a:ln w="12700">
            <a:solidFill>
              <a:srgbClr val="3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250424" y="4315968"/>
            <a:ext cx="1261872" cy="384048"/>
          </a:xfrm>
          <a:prstGeom prst="roundRect">
            <a:avLst/>
          </a:prstGeom>
          <a:solidFill>
            <a:srgbClr val="161F34"/>
          </a:solidFill>
          <a:ln>
            <a:solidFill>
              <a:srgbClr val="16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437997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0" b="1">
                <a:solidFill>
                  <a:srgbClr val="F5F7FA"/>
                </a:solidFill>
                <a:latin typeface="Aptos"/>
              </a:rPr>
              <a:t>squad_unlocked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75887" y="1371600"/>
            <a:ext cx="3794760" cy="196596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0208" y="162763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DC91"/>
                </a:solidFill>
                <a:latin typeface="Aptos"/>
              </a:rPr>
              <a:t>CORE APPLICATION MODULES</a:t>
            </a:r>
          </a:p>
        </p:txBody>
      </p:sp>
      <p:sp>
        <p:nvSpPr>
          <p:cNvPr id="42" name="Oval 41"/>
          <p:cNvSpPr/>
          <p:nvPr/>
        </p:nvSpPr>
        <p:spPr>
          <a:xfrm>
            <a:off x="3950208" y="2130551"/>
            <a:ext cx="82296" cy="82296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0" y="2084831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Project Library: 6 AI blueprints</a:t>
            </a:r>
          </a:p>
        </p:txBody>
      </p:sp>
      <p:sp>
        <p:nvSpPr>
          <p:cNvPr id="44" name="Oval 43"/>
          <p:cNvSpPr/>
          <p:nvPr/>
        </p:nvSpPr>
        <p:spPr>
          <a:xfrm>
            <a:off x="3950208" y="2532888"/>
            <a:ext cx="82296" cy="82296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0" y="2487168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Intelligent “Not Your Project?” regeneration</a:t>
            </a:r>
          </a:p>
        </p:txBody>
      </p:sp>
      <p:sp>
        <p:nvSpPr>
          <p:cNvPr id="46" name="Oval 45"/>
          <p:cNvSpPr/>
          <p:nvPr/>
        </p:nvSpPr>
        <p:spPr>
          <a:xfrm>
            <a:off x="3950208" y="2935224"/>
            <a:ext cx="82296" cy="82296"/>
          </a:xfrm>
          <a:prstGeom prst="ellipse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2889504"/>
            <a:ext cx="2990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Match-score ranked alternatives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99248" y="1371600"/>
            <a:ext cx="3931920" cy="196596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16276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7C44F"/>
                </a:solidFill>
                <a:latin typeface="Aptos"/>
              </a:rPr>
              <a:t>STATE &amp; 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21214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Reactive STATE 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3568" y="24963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CD2DC"/>
                </a:solidFill>
                <a:latin typeface="Aptos"/>
              </a:rPr>
              <a:t>localStorage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3568" y="2816352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6B1C6"/>
                </a:solidFill>
                <a:latin typeface="Aptos"/>
              </a:rPr>
              <a:t>nxt_events_data
nxt_students_data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2148840"/>
            <a:ext cx="1188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C6"/>
                </a:solidFill>
                <a:latin typeface="Aptos"/>
              </a:rPr>
              <a:t>Campus attribution codes
SRM • VIT • JNTU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3492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The key design principle: every meaningful action becomes measurable telemetry that feeds the admin growth layer.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AI PROJECT PASSPORT  •  PRODUCT-LED GROWTH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6B1C6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D2DC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Admin Growth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C6"/>
                </a:solidFill>
                <a:latin typeface="Aptos"/>
              </a:rPr>
              <a:t>Turn event data into actionable experiments and campaign decisions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B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2578608" cy="132588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CD2DC"/>
                </a:solidFill>
                <a:latin typeface="Aptos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  <a:latin typeface="Aptos"/>
              </a:rPr>
              <a:t>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1" y="190195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6B1C6"/>
                </a:solidFill>
                <a:latin typeface="Aptos"/>
              </a:rPr>
              <a:t>registrations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578608" cy="132588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8191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8968FF"/>
                </a:solidFill>
                <a:latin typeface="Aptos"/>
              </a:rPr>
              <a:t>REFERRAL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47088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  <a:latin typeface="Aptos"/>
              </a:rPr>
              <a:t>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90195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6B1C6"/>
                </a:solidFill>
                <a:latin typeface="Aptos"/>
              </a:rPr>
              <a:t>of total registrations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578608" cy="132588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8191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DC91"/>
                </a:solidFill>
                <a:latin typeface="Aptos"/>
              </a:rPr>
              <a:t>BEST VIRAL COHORT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47088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  <a:latin typeface="Aptos"/>
              </a:rPr>
              <a:t>2.4×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190195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6B1C6"/>
                </a:solidFill>
                <a:latin typeface="Aptos"/>
              </a:rPr>
              <a:t>squad-oriented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371600"/>
            <a:ext cx="2578608" cy="132588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8191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F7C44F"/>
                </a:solidFill>
                <a:latin typeface="Aptos"/>
              </a:rPr>
              <a:t>NEXT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47088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  <a:latin typeface="Aptos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190195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6B1C6"/>
                </a:solidFill>
                <a:latin typeface="Aptos"/>
              </a:rPr>
              <a:t>A/B experiment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26080"/>
            <a:ext cx="4572000" cy="315468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821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D2DC"/>
                </a:solidFill>
                <a:latin typeface="Aptos"/>
              </a:rPr>
              <a:t>FUNNEL DROP-OFF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65760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Landing → Passport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3685032"/>
            <a:ext cx="1691640" cy="201168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8920" y="3685032"/>
            <a:ext cx="1488643" cy="201168"/>
          </a:xfrm>
          <a:prstGeom prst="roundRect">
            <a:avLst/>
          </a:prstGeom>
          <a:solidFill>
            <a:srgbClr val="3CD2DC"/>
          </a:solidFill>
          <a:ln>
            <a:solidFill>
              <a:srgbClr val="3C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1605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Passport → Project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4187952"/>
            <a:ext cx="1691640" cy="201168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88920" y="4187952"/>
            <a:ext cx="1251813" cy="201168"/>
          </a:xfrm>
          <a:prstGeom prst="roundRect">
            <a:avLst/>
          </a:prstGeom>
          <a:solidFill>
            <a:srgbClr val="8968FF"/>
          </a:solidFill>
          <a:ln>
            <a:solidFill>
              <a:srgbClr val="89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15137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74%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66344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Project → Registration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4690872"/>
            <a:ext cx="1691640" cy="201168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88920" y="4690872"/>
            <a:ext cx="1031900" cy="201168"/>
          </a:xfrm>
          <a:prstGeom prst="roundRect">
            <a:avLst/>
          </a:prstGeom>
          <a:solidFill>
            <a:srgbClr val="52DC91"/>
          </a:solidFill>
          <a:ln>
            <a:solidFill>
              <a:srgbClr val="52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65429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61%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1663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Registration → Share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5193792"/>
            <a:ext cx="1691640" cy="201168"/>
          </a:xfrm>
          <a:prstGeom prst="roundRect">
            <a:avLst/>
          </a:prstGeom>
          <a:solidFill>
            <a:srgbClr val="273044"/>
          </a:solidFill>
          <a:ln>
            <a:solidFill>
              <a:srgbClr val="27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88920" y="5193792"/>
            <a:ext cx="659739" cy="201168"/>
          </a:xfrm>
          <a:prstGeom prst="roundRect">
            <a:avLst/>
          </a:prstGeom>
          <a:solidFill>
            <a:srgbClr val="F7C44F"/>
          </a:solidFill>
          <a:ln>
            <a:solidFill>
              <a:srgbClr val="F7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15721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C6"/>
                </a:solidFill>
                <a:latin typeface="Aptos"/>
              </a:rPr>
              <a:t>39%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6692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6B1C6"/>
                </a:solidFill>
                <a:latin typeface="Aptos"/>
              </a:rPr>
              <a:t>Highest drop-off → prioritize the next experiment.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49240" y="2926080"/>
            <a:ext cx="6281928" cy="315468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318211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DC91"/>
                </a:solidFill>
                <a:latin typeface="Aptos"/>
              </a:rPr>
              <a:t>GROWTH INTELLIGENCE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365760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CURRENT 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9168" y="3639312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Referral registration contribution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63931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6"/>
                </a:solidFill>
                <a:latin typeface="Aptos"/>
              </a:rPr>
              <a:t>Referral Regs ÷ Total Regs × 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224528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OBSERVABLE PATTERN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4206240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Highest-performing viral cohort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20624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6"/>
                </a:solidFill>
                <a:latin typeface="Aptos"/>
              </a:rPr>
              <a:t>Squad-oriented users share 2.4× more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4791456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RECOMMENDED EXPERIMENT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9168" y="4773168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Dynamic A/B recommendation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77316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6"/>
                </a:solidFill>
                <a:latin typeface="Aptos"/>
              </a:rPr>
              <a:t>Based on the active bottleneck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5358383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CAMPAIGN DECISION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5340096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Scale / Test / Investigate / Maintain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340096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6"/>
                </a:solidFill>
                <a:latin typeface="Aptos"/>
              </a:rPr>
              <a:t>Or “Awaiting sufficient data”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3560" y="571500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7C44F"/>
                </a:solidFill>
                <a:latin typeface="Aptos"/>
              </a:rPr>
              <a:t>“Why did students share?”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5669280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C6"/>
                </a:solidFill>
                <a:latin typeface="Aptos"/>
              </a:rPr>
              <a:t>Segments by Branch, Experience &amp; Preference → identify BEST SHARING and BEST CONVERTING cohorts.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AI PROJECT PASSPORT  •  PRODUCT-LED GROWTH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6B1C6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D2DC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Unit Economics &amp; Strategic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C6"/>
                </a:solidFill>
                <a:latin typeface="Aptos"/>
              </a:rPr>
              <a:t>500-registration planning model • ₹2,000 budget • explicit rejection of weak growth tactics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B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6720840" cy="333756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CD2DC"/>
                </a:solidFill>
                <a:latin typeface="Aptos"/>
              </a:rPr>
              <a:t>500-REGISTRATION PLANNING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1C6"/>
                </a:solidFill>
                <a:latin typeface="Aptos"/>
              </a:rPr>
              <a:t>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02996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1C6"/>
                </a:solidFill>
                <a:latin typeface="Aptos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02996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6B1C6"/>
                </a:solidFill>
                <a:latin typeface="Aptos"/>
              </a:rPr>
              <a:t>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95728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6B1C6"/>
                </a:solidFill>
                <a:latin typeface="Aptos"/>
              </a:rPr>
              <a:t>Campus Ambassadors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95728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F5F7FA"/>
                </a:solidFill>
                <a:latin typeface="Aptos"/>
              </a:rPr>
              <a:t>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395728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A6B1C6"/>
                </a:solidFill>
                <a:latin typeface="Aptos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6B1C6"/>
                </a:solidFill>
                <a:latin typeface="Aptos"/>
              </a:rPr>
              <a:t>Student Referral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34640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F5F7FA"/>
                </a:solidFill>
                <a:latin typeface="Aptos"/>
              </a:rP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834640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A6B1C6"/>
                </a:solidFill>
                <a:latin typeface="Apto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73552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6B1C6"/>
                </a:solidFill>
                <a:latin typeface="Aptos"/>
              </a:rPr>
              <a:t>College Clubs &amp; Communities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273552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F5F7FA"/>
                </a:solidFill>
                <a:latin typeface="Aptos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273552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A6B1C6"/>
                </a:solidFill>
                <a:latin typeface="Aptos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12464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6B1C6"/>
                </a:solidFill>
                <a:latin typeface="Aptos"/>
              </a:rPr>
              <a:t>Organic Social &amp; 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712464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F5F7FA"/>
                </a:solidFill>
                <a:latin typeface="Aptos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712464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A6B1C6"/>
                </a:solidFill>
                <a:latin typeface="Aptos"/>
              </a:rPr>
              <a:t>10%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4078224"/>
            <a:ext cx="6080760" cy="0"/>
          </a:xfrm>
          <a:prstGeom prst="line">
            <a:avLst/>
          </a:prstGeom>
          <a:ln w="12700">
            <a:solidFill>
              <a:srgbClr val="2B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4151376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15137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F5F7FA"/>
                </a:solidFill>
                <a:latin typeface="Aptos"/>
              </a:rPr>
              <a:t>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151376"/>
            <a:ext cx="548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F5F7FA"/>
                </a:solidFill>
                <a:latin typeface="Aptos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4340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DC91"/>
                </a:solidFill>
                <a:latin typeface="Aptos"/>
              </a:rPr>
              <a:t>Modeled CAC: ₹4.00 per target signup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90288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6B1C6"/>
                </a:solidFill>
                <a:latin typeface="Aptos"/>
              </a:rPr>
              <a:t>Referral signups are an attribution category inside the 500 total — not added on top.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9792" y="1371600"/>
            <a:ext cx="4151376" cy="1874519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16276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968FF"/>
                </a:solidFill>
                <a:latin typeface="Aptos"/>
              </a:rPr>
              <a:t>₹2,000 PLANNING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2084831"/>
            <a:ext cx="777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2DC91"/>
                </a:solidFill>
                <a:latin typeface="Aptos"/>
              </a:rPr>
              <a:t>₹1,000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084831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1C6"/>
                </a:solidFill>
                <a:latin typeface="Aptos"/>
              </a:rPr>
              <a:t>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084831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5F7FA"/>
                </a:solidFill>
                <a:latin typeface="Aptos"/>
              </a:rPr>
              <a:t>Peer Referral Recognition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2423160"/>
            <a:ext cx="777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CD2DC"/>
                </a:solidFill>
                <a:latin typeface="Aptos"/>
              </a:rPr>
              <a:t>₹500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423160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1C6"/>
                </a:solidFill>
                <a:latin typeface="Aptos"/>
              </a:rP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42316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5F7FA"/>
                </a:solidFill>
                <a:latin typeface="Aptos"/>
              </a:rPr>
              <a:t>Campus Ambassador Pool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2761487"/>
            <a:ext cx="777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7C44F"/>
                </a:solidFill>
                <a:latin typeface="Aptos"/>
              </a:rPr>
              <a:t>₹500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761487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6B1C6"/>
                </a:solidFill>
                <a:latin typeface="Aptos"/>
              </a:rPr>
              <a:t>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761487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5F7FA"/>
                </a:solidFill>
                <a:latin typeface="Aptos"/>
              </a:rPr>
              <a:t>Club &amp; Creator Perks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79792" y="3474720"/>
            <a:ext cx="4151376" cy="2606040"/>
          </a:xfrm>
          <a:prstGeom prst="roundRect">
            <a:avLst/>
          </a:prstGeom>
          <a:solidFill>
            <a:srgbClr val="11182A"/>
          </a:solidFill>
          <a:ln>
            <a:solidFill>
              <a:srgbClr val="11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54112" y="3730752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646E"/>
                </a:solidFill>
                <a:latin typeface="Aptos"/>
              </a:rPr>
              <a:t>KEY AI SUGGESTIONS REJECTED</a:t>
            </a:r>
          </a:p>
        </p:txBody>
      </p:sp>
      <p:sp>
        <p:nvSpPr>
          <p:cNvPr id="42" name="Oval 41"/>
          <p:cNvSpPr/>
          <p:nvPr/>
        </p:nvSpPr>
        <p:spPr>
          <a:xfrm>
            <a:off x="7754112" y="4187952"/>
            <a:ext cx="256032" cy="256032"/>
          </a:xfrm>
          <a:prstGeom prst="ellipse">
            <a:avLst/>
          </a:prstGeom>
          <a:solidFill>
            <a:srgbClr val="F2646E"/>
          </a:solidFill>
          <a:ln>
            <a:solidFill>
              <a:srgbClr val="F2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80C18"/>
                </a:solidFill>
                <a:latin typeface="Aptos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4169664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Paid Meta Ads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4352" y="41696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A6B1C6"/>
                </a:solidFill>
                <a:latin typeface="Aptos"/>
              </a:rPr>
              <a:t>₹80–₹150 CAC breaks the budget</a:t>
            </a:r>
          </a:p>
        </p:txBody>
      </p:sp>
      <p:sp>
        <p:nvSpPr>
          <p:cNvPr id="45" name="Oval 44"/>
          <p:cNvSpPr/>
          <p:nvPr/>
        </p:nvSpPr>
        <p:spPr>
          <a:xfrm>
            <a:off x="7754112" y="4736592"/>
            <a:ext cx="256032" cy="256032"/>
          </a:xfrm>
          <a:prstGeom prst="ellipse">
            <a:avLst/>
          </a:prstGeom>
          <a:solidFill>
            <a:srgbClr val="F2646E"/>
          </a:solidFill>
          <a:ln>
            <a:solidFill>
              <a:srgbClr val="F2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80C18"/>
                </a:solidFill>
                <a:latin typeface="Aptos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718304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Fake urgency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471830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A6B1C6"/>
                </a:solidFill>
                <a:latin typeface="Aptos"/>
              </a:rPr>
              <a:t>Countdowns/popups damage trust</a:t>
            </a:r>
          </a:p>
        </p:txBody>
      </p:sp>
      <p:sp>
        <p:nvSpPr>
          <p:cNvPr id="48" name="Oval 47"/>
          <p:cNvSpPr/>
          <p:nvPr/>
        </p:nvSpPr>
        <p:spPr>
          <a:xfrm>
            <a:off x="7754112" y="5285232"/>
            <a:ext cx="256032" cy="256032"/>
          </a:xfrm>
          <a:prstGeom prst="ellipse">
            <a:avLst/>
          </a:prstGeom>
          <a:solidFill>
            <a:srgbClr val="F2646E"/>
          </a:solidFill>
          <a:ln>
            <a:solidFill>
              <a:srgbClr val="F2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80C18"/>
                </a:solidFill>
                <a:latin typeface="Aptos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5266944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A"/>
                </a:solidFill>
                <a:latin typeface="Aptos"/>
              </a:rPr>
              <a:t>Generic webinar page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526694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A6B1C6"/>
                </a:solidFill>
                <a:latin typeface="Aptos"/>
              </a:rPr>
              <a:t>High bounce risk; weak value before ask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STRATEGIC JUDGMENT:  Distribution first → personalized value → measurable referrals → controlled experimentation.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6B1C6"/>
                </a:solidFill>
                <a:latin typeface="Aptos"/>
              </a:rPr>
              <a:t>AI PROJECT PASSPORT  •  PRODUCT-LED GROWTH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6B1C6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